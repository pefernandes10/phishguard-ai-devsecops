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título: PhishGuard AI. É um protótipo acadêmico de triagem de e-mails de phishing que usa aprendizado de máquina local, Python/FastAPI, Docker e GitHub Actions. Não é um produto validado para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não é afirmar que um modelo pequeno elimina phishing, e sim demonstrar como incorporar IA e controles no ciclo de desenvolvimento. A imagem é uma renderização da interface com resultado produzido pelo classificador local, usando dados sintéticos.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interface envia o texto para o endpoint da API, onde Pydantic verifica os limites de tamanho. O texto passa pelo pipeline de IA, e o resultado é devolvido em JSON. O protótipo não persiste mensagens. Isso não equivale a impedir logs em infraestrutura externa.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IA: TF-IDF converte texto em vetores com frequências e pesos de palavras; regressão logística aprende padrões a partir dos exemplos. O resultado de 68% saiu do modelo no exemplo de demonstração. Não é uma taxa de acerto comprovada e não se deve usar esse projeto para bloquear e-mails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sete testes unitários e de contrato foram executados localmente e passaram. Os scanners estão configurados no arquivo .github/workflows/security.yml, mas sua execução real em GitHub Actions só poderá ser comprovada após publicação do repositório. O gatilho checksPass do Render permite esperar os checks de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diferença entre identificar risco e comprovar correção. Bandit busca padrões suspeitos no código Python, pip-audit avalia vulnerabilidades publicadas em dependências e Trivy verifica a imagem. Ainda falta executar esses scanners no ambiente GitHub, validar alertas e criar controle de requisições no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LGPD prevê princípios como finalidade, necessidade, segurança, transparência e prevenção. Este protótipo usa dados fictícios e não registra mensagens no aplicativo, mas em uma operação real seriam necessárias avaliação do tratamento, base legal, análise de infraestrutura, titulares e controles técnicos adicionais. NIST AI RMF é referencial voluntário, não uma certificação.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 seis arquivos Markdown prontos no ZIP. São prompts para apoiar o desenvolvimento seguro com uma IA conversacional. Como o classificador demonstrado usa ML clássico (e não LLM), ele não usa prompts na etapa de inferência; essa distinção evita afirmar algo que o código não faz. O aluno deverá publicar a pasta em sua conta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localmente com python -m uvicorn app.main:app --reload ou via Docker. GitHub Actions só será executado após publicação do repositório. O render.yaml usa autoDeployTrigger checksPass, que aguarda verificações do GitHub antes do deploy. Registrar URL, screenshot do Actions e health check assim que implantar.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final: link de repositório, arquivos dos seis prompts, screenshot do Pytest local, screenshot do GitHub Actions e URL de implantação se houver. O projeto não declara conformidade completa nem implantação pública sem evidência. Referências oficiais estão clicáveis nesta lâmina.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fastapi.tiangolo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actions/how-tos/secure-your-wor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lanalto.gov.br/ccivil_03/_ato2015-2018/2018/lei/l13709compilado.htm" TargetMode="External"/><Relationship Id="rId2" Type="http://schemas.openxmlformats.org/officeDocument/2006/relationships/hyperlink" Target="https://www.nist.gov/itl/ai-risk-management-framewor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e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render.com/docs/blueprint-spe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lanalto.gov.br/ccivil_03/_ato2015-2018/2018/lei/l13709compilado.htm" TargetMode="External"/><Relationship Id="rId2" Type="http://schemas.openxmlformats.org/officeDocument/2006/relationships/hyperlink" Target="https://www.nist.gov/itl/ai-risk-management-framework" TargetMode="External"/><Relationship Id="rId3" Type="http://schemas.openxmlformats.org/officeDocument/2006/relationships/hyperlink" Target="https://owasp.org/www-project-top-ten/" TargetMode="External"/><Relationship Id="rId4" Type="http://schemas.openxmlformats.org/officeDocument/2006/relationships/hyperlink" Target="https://docs.github.com/en/actions/how-tos/secure-your-work" TargetMode="External"/><Relationship Id="rId5" Type="http://schemas.openxmlformats.org/officeDocument/2006/relationships/hyperlink" Target="https://github.com/aquasecurity/trivy-action" TargetMode="External"/><Relationship Id="rId6" Type="http://schemas.openxmlformats.org/officeDocument/2006/relationships/hyperlink" Target="https://render.com/docs/blueprint-spec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detail_digital_3d_cgi_sci_fi_cybers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061321">
              <a:alpha val="9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0936" y="658368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TRABALHO ACADÊMICO  •  NOTA EXTRA (+2)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6072" y="1975104"/>
            <a:ext cx="6446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</a:t>
            </a:r>
            <a:endParaRPr lang="en-US" sz="4900" dirty="0"/>
          </a:p>
        </p:txBody>
      </p:sp>
      <p:sp>
        <p:nvSpPr>
          <p:cNvPr id="6" name="Text 3"/>
          <p:cNvSpPr/>
          <p:nvPr/>
        </p:nvSpPr>
        <p:spPr>
          <a:xfrm>
            <a:off x="612648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spc="12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4900" dirty="0"/>
          </a:p>
        </p:txBody>
      </p:sp>
      <p:sp>
        <p:nvSpPr>
          <p:cNvPr id="7" name="Shape 4"/>
          <p:cNvSpPr/>
          <p:nvPr/>
        </p:nvSpPr>
        <p:spPr>
          <a:xfrm>
            <a:off x="658368" y="3776472"/>
            <a:ext cx="4389120" cy="0"/>
          </a:xfrm>
          <a:prstGeom prst="line">
            <a:avLst/>
          </a:prstGeom>
          <a:noFill/>
          <a:ln w="25400">
            <a:solidFill>
              <a:srgbClr val="66ED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08736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Implantação de uma aplicação de IA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controles de DevSecOps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61722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Aprendizado de máquina  •  GitHub  •  Segurança  •  LGPD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| CONTEXTO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 e a solução proposta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ferramenta simples para apoiar a triagem inicial de mensagens suspeitas.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C4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DE NOTA EXTRA  ·  IA + DEVSECOPS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853928" y="6510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276856"/>
            <a:ext cx="4992624" cy="3529584"/>
          </a:xfrm>
          <a:prstGeom prst="roundRect">
            <a:avLst>
              <a:gd name="adj" fmla="val 3886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76947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50545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de negócio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8096" y="3017520"/>
            <a:ext cx="438912" cy="438912"/>
          </a:xfrm>
          <a:prstGeom prst="ellipse">
            <a:avLst/>
          </a:prstGeom>
          <a:solidFill>
            <a:srgbClr val="66EDC8"/>
          </a:solidFill>
          <a:ln w="12700">
            <a:solidFill>
              <a:srgbClr val="66EDC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44168" y="3035808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Golpes por e-mail podem usar urgência e engenharia social.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" y="3822192"/>
            <a:ext cx="438912" cy="438912"/>
          </a:xfrm>
          <a:prstGeom prst="ellipse">
            <a:avLst/>
          </a:prstGeom>
          <a:solidFill>
            <a:srgbClr val="7DC7FF"/>
          </a:solidFill>
          <a:ln w="12700">
            <a:solidFill>
              <a:srgbClr val="7DC7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44168" y="3840480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manual de muitas mensagens consome tempo.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" y="4626864"/>
            <a:ext cx="438912" cy="438912"/>
          </a:xfrm>
          <a:prstGeom prst="ellipse">
            <a:avLst/>
          </a:prstGeom>
          <a:solidFill>
            <a:srgbClr val="7DC7FF"/>
          </a:solidFill>
          <a:ln w="12700">
            <a:solidFill>
              <a:srgbClr val="7DC7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3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44168" y="4645152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saída da IA deve apoiar — nunca substituir — o analista.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" y="553212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75104" y="5504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Classificar textos sintéticos em baixo / médio / alto risco.</a:t>
            </a:r>
            <a:endParaRPr lang="en-US" sz="1170" dirty="0"/>
          </a:p>
        </p:txBody>
      </p:sp>
      <p:pic>
        <p:nvPicPr>
          <p:cNvPr id="24" name="Image 0" descr="/mnt/data/phishguard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276856"/>
            <a:ext cx="5916168" cy="431596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788152" y="2276856"/>
            <a:ext cx="5916168" cy="4315968"/>
          </a:xfrm>
          <a:prstGeom prst="rect">
            <a:avLst/>
          </a:prstGeom>
          <a:solidFill>
            <a:srgbClr val="061321">
              <a:alpha val="0"/>
            </a:srgbClr>
          </a:solidFill>
          <a:ln w="12700">
            <a:solidFill>
              <a:srgbClr val="2C4A5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61304" y="6208776"/>
            <a:ext cx="5394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do protótipo (resultado real do classificador)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| ARQUITETURA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a aplicação funciona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de informação e controles no caminho entre usuário, API e modelo de IA.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C4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DE NOTA EXTRA  ·  IA + DEVSECOPS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853928" y="6510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423160"/>
            <a:ext cx="2496312" cy="2084832"/>
          </a:xfrm>
          <a:prstGeom prst="roundRect">
            <a:avLst>
              <a:gd name="adj" fmla="val 6579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423251"/>
            <a:ext cx="52121" cy="45720"/>
          </a:xfrm>
          <a:prstGeom prst="rect">
            <a:avLst/>
          </a:prstGeom>
          <a:solidFill>
            <a:srgbClr val="7D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71576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D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INTERFACE WEB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31927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JavaScript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de assunto e texto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63240" y="3456432"/>
            <a:ext cx="329184" cy="0"/>
          </a:xfrm>
          <a:prstGeom prst="line">
            <a:avLst/>
          </a:prstGeom>
          <a:noFill/>
          <a:ln w="25400">
            <a:solidFill>
              <a:srgbClr val="66EDC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10712" y="2423160"/>
            <a:ext cx="2496312" cy="2084832"/>
          </a:xfrm>
          <a:prstGeom prst="roundRect">
            <a:avLst>
              <a:gd name="adj" fmla="val 6579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0712" y="2423251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7016" y="271576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API FASTAPI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31927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Pydantic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/analyze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0" y="3456432"/>
            <a:ext cx="329184" cy="0"/>
          </a:xfrm>
          <a:prstGeom prst="line">
            <a:avLst/>
          </a:prstGeom>
          <a:noFill/>
          <a:ln w="25400">
            <a:solidFill>
              <a:srgbClr val="66EDC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91072" y="2423160"/>
            <a:ext cx="2496312" cy="2084832"/>
          </a:xfrm>
          <a:prstGeom prst="roundRect">
            <a:avLst>
              <a:gd name="adj" fmla="val 6579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2423251"/>
            <a:ext cx="52121" cy="45720"/>
          </a:xfrm>
          <a:prstGeom prst="rect">
            <a:avLst/>
          </a:prstGeom>
          <a:solidFill>
            <a:srgbClr val="F7C8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271576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MODELO LOCAL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331927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+ Regressão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Logística (scikit-learn)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823960" y="3456432"/>
            <a:ext cx="329184" cy="0"/>
          </a:xfrm>
          <a:prstGeom prst="line">
            <a:avLst/>
          </a:prstGeom>
          <a:noFill/>
          <a:ln w="25400">
            <a:solidFill>
              <a:srgbClr val="66EDC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71432" y="2423160"/>
            <a:ext cx="2496312" cy="2084832"/>
          </a:xfrm>
          <a:prstGeom prst="roundRect">
            <a:avLst>
              <a:gd name="adj" fmla="val 6579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71432" y="2423251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7736" y="271576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RESPOSTA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0" y="331927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+ score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humana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57784" y="4800600"/>
            <a:ext cx="11091672" cy="749808"/>
          </a:xfrm>
          <a:prstGeom prst="roundRect">
            <a:avLst>
              <a:gd name="adj" fmla="val 17073"/>
            </a:avLst>
          </a:prstGeom>
          <a:solidFill>
            <a:srgbClr val="102F3C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4983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CAMADA DE SEGURANÇA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4992624"/>
            <a:ext cx="8458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de tamanho   •   Sem banco de dados   •   Sem mensagens em logs do app   •   Headers defensivos</a:t>
            </a:r>
            <a:endParaRPr lang="en-US" sz="1210" dirty="0"/>
          </a:p>
        </p:txBody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530352" y="607161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  FastAPI + scikit-learn   https://fastapi.tiangolo.com/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| INTELIGÊNCIA ARTIFICIAL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real, pequena e reproduzível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foi treinado com 48 mensagens inteiramente sintéticas, somente para fins de demonstração.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C4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DE NOTA EXTRA  ·  IA + DEVSECOPS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853928" y="6510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" y="2496312"/>
            <a:ext cx="3621024" cy="2139696"/>
          </a:xfrm>
          <a:prstGeom prst="roundRect">
            <a:avLst>
              <a:gd name="adj" fmla="val 6410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2496403"/>
            <a:ext cx="52121" cy="45720"/>
          </a:xfrm>
          <a:prstGeom prst="rect">
            <a:avLst/>
          </a:prstGeom>
          <a:solidFill>
            <a:srgbClr val="7D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779776"/>
            <a:ext cx="713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7D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58952" y="3346704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sintéticos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952" y="3831336"/>
            <a:ext cx="31821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mensagens suspeitas e 24 normais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criadas para o projeto.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25696" y="2496312"/>
            <a:ext cx="3621024" cy="2139696"/>
          </a:xfrm>
          <a:prstGeom prst="roundRect">
            <a:avLst>
              <a:gd name="adj" fmla="val 6410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5696" y="2496403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779776"/>
            <a:ext cx="713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626864" y="3346704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Vetorização TF-IDF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26864" y="3831336"/>
            <a:ext cx="31821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 palavras e combinações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palavras em números.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93608" y="2496312"/>
            <a:ext cx="3621024" cy="2139696"/>
          </a:xfrm>
          <a:prstGeom prst="roundRect">
            <a:avLst>
              <a:gd name="adj" fmla="val 6410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3608" y="2496403"/>
            <a:ext cx="52121" cy="45720"/>
          </a:xfrm>
          <a:prstGeom prst="rect">
            <a:avLst/>
          </a:prstGeom>
          <a:solidFill>
            <a:srgbClr val="F7C8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4776" y="2779776"/>
            <a:ext cx="713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494776" y="3346704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 logística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94776" y="3831336"/>
            <a:ext cx="31821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 a separar os dois grupos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calcula um score.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" y="4919472"/>
            <a:ext cx="10991088" cy="704088"/>
          </a:xfrm>
          <a:prstGeom prst="roundRect">
            <a:avLst>
              <a:gd name="adj" fmla="val 16883"/>
            </a:avLst>
          </a:prstGeom>
          <a:solidFill>
            <a:srgbClr val="102F3C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1023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REAL DO PROTÓTIPO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5111496"/>
            <a:ext cx="8074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suspeita fictícia  →  68% estimado  →  Risco ALTO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" y="5870448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 importante: score não calibrado em dados reais; falsos positivos e negativos são esperados.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| DEVSECOPS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integrada ao ciclo de entrega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pull request aciona testes e verificações antes de uma possível publicação.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C4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DE NOTA EXTRA  ·  IA + DEVSECOPS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853928" y="6510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208" y="2468880"/>
            <a:ext cx="1755648" cy="1984248"/>
          </a:xfrm>
          <a:prstGeom prst="roundRect">
            <a:avLst>
              <a:gd name="adj" fmla="val 781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2468971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15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5800" y="31912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/ GitHub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85800" y="368503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de código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2286000" y="3383280"/>
            <a:ext cx="146304" cy="0"/>
          </a:xfrm>
          <a:prstGeom prst="line">
            <a:avLst/>
          </a:prstGeom>
          <a:noFill/>
          <a:ln w="25400">
            <a:solidFill>
              <a:srgbClr val="7DC7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32304" y="2468880"/>
            <a:ext cx="1755648" cy="1984248"/>
          </a:xfrm>
          <a:prstGeom prst="roundRect">
            <a:avLst>
              <a:gd name="adj" fmla="val 781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2304" y="2468971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2715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596896" y="31912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2596896" y="368503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testes locais OK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4197096" y="3383280"/>
            <a:ext cx="146304" cy="0"/>
          </a:xfrm>
          <a:prstGeom prst="line">
            <a:avLst/>
          </a:prstGeom>
          <a:noFill/>
          <a:ln w="25400">
            <a:solidFill>
              <a:srgbClr val="7DC7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43400" y="2468880"/>
            <a:ext cx="1755648" cy="1984248"/>
          </a:xfrm>
          <a:prstGeom prst="roundRect">
            <a:avLst>
              <a:gd name="adj" fmla="val 781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468971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2715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507992" y="31912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Bandit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4507992" y="368503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SAST para Python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6108192" y="3383280"/>
            <a:ext cx="146304" cy="0"/>
          </a:xfrm>
          <a:prstGeom prst="line">
            <a:avLst/>
          </a:prstGeom>
          <a:noFill/>
          <a:ln w="25400">
            <a:solidFill>
              <a:srgbClr val="7DC7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54496" y="2468880"/>
            <a:ext cx="1755648" cy="1984248"/>
          </a:xfrm>
          <a:prstGeom prst="roundRect">
            <a:avLst>
              <a:gd name="adj" fmla="val 781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2468971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2715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419088" y="31912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pip-audit</a:t>
            </a:r>
            <a:endParaRPr lang="en-US" sz="1420" dirty="0"/>
          </a:p>
        </p:txBody>
      </p:sp>
      <p:sp>
        <p:nvSpPr>
          <p:cNvPr id="32" name="Text 30"/>
          <p:cNvSpPr/>
          <p:nvPr/>
        </p:nvSpPr>
        <p:spPr>
          <a:xfrm>
            <a:off x="6419088" y="368503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/ CVEs em libs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8019288" y="3383280"/>
            <a:ext cx="146304" cy="0"/>
          </a:xfrm>
          <a:prstGeom prst="line">
            <a:avLst/>
          </a:prstGeom>
          <a:noFill/>
          <a:ln w="25400">
            <a:solidFill>
              <a:srgbClr val="7DC7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65592" y="2468880"/>
            <a:ext cx="1755648" cy="1984248"/>
          </a:xfrm>
          <a:prstGeom prst="roundRect">
            <a:avLst>
              <a:gd name="adj" fmla="val 781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65592" y="2468971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0184" y="2715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8330184" y="31912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+ Trivy</a:t>
            </a:r>
            <a:endParaRPr lang="en-US" sz="1420" dirty="0"/>
          </a:p>
        </p:txBody>
      </p:sp>
      <p:sp>
        <p:nvSpPr>
          <p:cNvPr id="38" name="Text 36"/>
          <p:cNvSpPr/>
          <p:nvPr/>
        </p:nvSpPr>
        <p:spPr>
          <a:xfrm>
            <a:off x="8330184" y="368503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Imagem / CVEs</a:t>
            </a: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9930384" y="3383280"/>
            <a:ext cx="146304" cy="0"/>
          </a:xfrm>
          <a:prstGeom prst="line">
            <a:avLst/>
          </a:prstGeom>
          <a:noFill/>
          <a:ln w="25400">
            <a:solidFill>
              <a:srgbClr val="7DC7F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076688" y="2468880"/>
            <a:ext cx="1755648" cy="1984248"/>
          </a:xfrm>
          <a:prstGeom prst="roundRect">
            <a:avLst>
              <a:gd name="adj" fmla="val 781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76688" y="2468971"/>
            <a:ext cx="52121" cy="45720"/>
          </a:xfrm>
          <a:prstGeom prst="rect">
            <a:avLst/>
          </a:prstGeom>
          <a:solidFill>
            <a:srgbClr val="F7C8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0" y="2715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0241280" y="31912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</a:t>
            </a:r>
            <a:endParaRPr lang="en-US" sz="1420" dirty="0"/>
          </a:p>
        </p:txBody>
      </p:sp>
      <p:sp>
        <p:nvSpPr>
          <p:cNvPr id="44" name="Text 42"/>
          <p:cNvSpPr/>
          <p:nvPr/>
        </p:nvSpPr>
        <p:spPr>
          <a:xfrm>
            <a:off x="10241280" y="368503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após CI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557784" y="4754880"/>
            <a:ext cx="11064240" cy="795528"/>
          </a:xfrm>
          <a:prstGeom prst="roundRect">
            <a:avLst>
              <a:gd name="adj" fmla="val 13793"/>
            </a:avLst>
          </a:prstGeom>
          <a:solidFill>
            <a:srgbClr val="102F3C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" y="495604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DE SEGURANÇA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10128" y="4928616"/>
            <a:ext cx="8019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scanner que falha interrompe o workflow. No Render, checks aprovados habilitam o deploy.</a:t>
            </a:r>
            <a:endParaRPr lang="en-US" sz="1290" dirty="0"/>
          </a:p>
        </p:txBody>
      </p:sp>
      <p:sp>
        <p:nvSpPr>
          <p:cNvPr id="48" name="Text 46">
            <a:hlinkClick r:id="rId1" tooltip=""/>
          </p:cNvPr>
          <p:cNvSpPr/>
          <p:nvPr/>
        </p:nvSpPr>
        <p:spPr>
          <a:xfrm>
            <a:off x="521208" y="6144768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  GitHub Actions   https://docs.github.com/en/actions/how-tos/secure-your-work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| VULNERABILIDADES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Riscos identificados e tratamento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considera falhas de código, bibliotecas, infraestrutura e qualidade da própria IA.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C4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DE NOTA EXTRA  ·  IA + DEVSECOPS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853928" y="6510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0332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0" y="237744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/ PRÓXIMO PASSO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" y="2825496"/>
            <a:ext cx="11082528" cy="557784"/>
          </a:xfrm>
          <a:prstGeom prst="roundRect">
            <a:avLst>
              <a:gd name="adj" fmla="val 13115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1693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Dependências vulneráveis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39896" y="292608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D8D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239512" y="2935224"/>
            <a:ext cx="6181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pip-audit + Trivy detectam CVEs conhecidas.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57784" y="3465576"/>
            <a:ext cx="11082528" cy="557784"/>
          </a:xfrm>
          <a:prstGeom prst="roundRect">
            <a:avLst>
              <a:gd name="adj" fmla="val 13115"/>
            </a:avLst>
          </a:prstGeom>
          <a:solidFill>
            <a:srgbClr val="0A1E2A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5701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sobrecarregada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39896" y="356616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D8D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239512" y="3575304"/>
            <a:ext cx="6181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limitada; falta rate limiting / autenticação.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557784" y="4105656"/>
            <a:ext cx="11082528" cy="557784"/>
          </a:xfrm>
          <a:prstGeom prst="roundRect">
            <a:avLst>
              <a:gd name="adj" fmla="val 13115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9709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ou script malicioso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39896" y="42062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MÉDIO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239512" y="4215384"/>
            <a:ext cx="6181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Validação, JSON e textContent; testes e CSP.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557784" y="4745736"/>
            <a:ext cx="11082528" cy="557784"/>
          </a:xfrm>
          <a:prstGeom prst="roundRect">
            <a:avLst>
              <a:gd name="adj" fmla="val 13115"/>
            </a:avLst>
          </a:prstGeom>
          <a:solidFill>
            <a:srgbClr val="0A1E2A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3717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Erros do classificador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39896" y="48463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D8D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5239512" y="4855464"/>
            <a:ext cx="6181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humana; métricas reais ainda pendentes.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585216" y="5705856"/>
            <a:ext cx="10991088" cy="384048"/>
          </a:xfrm>
          <a:prstGeom prst="roundRect">
            <a:avLst>
              <a:gd name="adj" fmla="val 19048"/>
            </a:avLst>
          </a:prstGeom>
          <a:solidFill>
            <a:srgbClr val="0A1E2A"/>
          </a:solidFill>
          <a:ln w="8890">
            <a:solidFill>
              <a:srgbClr val="F7C8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760720"/>
            <a:ext cx="10588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mapa de riscos e controles planejados — não substitui pentest nem certificação.</a:t>
            </a:r>
            <a:endParaRPr lang="en-US" sz="11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| CONFORMIDADE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Privacidade e governança de IA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Alinhamento inicial com princípios da LGPD e boas práticas de gestão de riscos do NIST.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C4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DE NOTA EXTRA  ·  IA + DEVSECOPS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853928" y="6510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414016"/>
            <a:ext cx="5404104" cy="3273552"/>
          </a:xfrm>
          <a:prstGeom prst="roundRect">
            <a:avLst>
              <a:gd name="adj" fmla="val 4190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414107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883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LGPD · Lei 13.709/2018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471830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FINALIDADE   •   somente triagem didática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NECESSIDADE   •   não pedir dados pessoais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  •   validação e sem persistência no app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TRANSPARÊNCIA   •   informar limites e incerteza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08776" y="2414016"/>
            <a:ext cx="5413248" cy="3273552"/>
          </a:xfrm>
          <a:prstGeom prst="roundRect">
            <a:avLst>
              <a:gd name="adj" fmla="val 4190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2414107"/>
            <a:ext cx="52121" cy="45720"/>
          </a:xfrm>
          <a:prstGeom prst="rect">
            <a:avLst/>
          </a:prstGeom>
          <a:solidFill>
            <a:srgbClr val="7D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688336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64808" y="3200400"/>
            <a:ext cx="471830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   •   papéis e aprovação humana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  •   ameaças, uso e contexto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  •   taxa de erro e falsos positivos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  •   correções, reavaliação e monitoramento</a:t>
            </a:r>
            <a:endParaRPr lang="en-US" sz="1400" dirty="0"/>
          </a:p>
        </p:txBody>
      </p:sp>
      <p:sp>
        <p:nvSpPr>
          <p:cNvPr id="18" name="Text 16">
            <a:hlinkClick r:id="rId1" tooltip=""/>
          </p:cNvPr>
          <p:cNvSpPr/>
          <p:nvPr/>
        </p:nvSpPr>
        <p:spPr>
          <a:xfrm>
            <a:off x="667512" y="6035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LGPD (fonte oficial)</a:t>
            </a:r>
            <a:endParaRPr lang="en-US" sz="1050" dirty="0"/>
          </a:p>
        </p:txBody>
      </p:sp>
      <p:sp>
        <p:nvSpPr>
          <p:cNvPr id="19" name="Text 17">
            <a:hlinkClick r:id="rId2" tooltip=""/>
          </p:cNvPr>
          <p:cNvSpPr/>
          <p:nvPr/>
        </p:nvSpPr>
        <p:spPr>
          <a:xfrm>
            <a:off x="6254496" y="6035040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AI Risk Management Framework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| ACERVO GITHUB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 de 6 prompts versionados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apoiam arquitetura, revisão, conformidade e incidentes — não são o modelo de classificação.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C4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DE NOTA EXTRA  ·  IA + DEVSECOPS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853928" y="6510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724144" cy="3584448"/>
          </a:xfrm>
          <a:prstGeom prst="roundRect">
            <a:avLst>
              <a:gd name="adj" fmla="val 3827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23251"/>
            <a:ext cx="52121" cy="45720"/>
          </a:xfrm>
          <a:prstGeom prst="rect">
            <a:avLst/>
          </a:prstGeom>
          <a:solidFill>
            <a:srgbClr val="7D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670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7D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/prompts/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1248" y="3090672"/>
            <a:ext cx="5193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AF5F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01-arquitetura-segura.md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841248" y="3502152"/>
            <a:ext cx="5193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AF5F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02-modelagem-ameacas.md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5193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AF5F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03-revisao-de-codigo.md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841248" y="4325112"/>
            <a:ext cx="5193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AF5F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04-lgpd-governanca.md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841248" y="4736592"/>
            <a:ext cx="5193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AF5F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05-analise-incidente.md</a:t>
            </a:r>
            <a:endParaRPr lang="en-US" sz="1370" dirty="0"/>
          </a:p>
        </p:txBody>
      </p:sp>
      <p:sp>
        <p:nvSpPr>
          <p:cNvPr id="18" name="Text 16"/>
          <p:cNvSpPr/>
          <p:nvPr/>
        </p:nvSpPr>
        <p:spPr>
          <a:xfrm>
            <a:off x="841248" y="5148072"/>
            <a:ext cx="5193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AF5F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06-testes-abuso-ia.md</a:t>
            </a:r>
            <a:endParaRPr lang="en-US" sz="1370" dirty="0"/>
          </a:p>
        </p:txBody>
      </p:sp>
      <p:sp>
        <p:nvSpPr>
          <p:cNvPr id="19" name="Shape 17"/>
          <p:cNvSpPr/>
          <p:nvPr/>
        </p:nvSpPr>
        <p:spPr>
          <a:xfrm>
            <a:off x="6501384" y="2423160"/>
            <a:ext cx="5148072" cy="3584448"/>
          </a:xfrm>
          <a:prstGeom prst="roundRect">
            <a:avLst>
              <a:gd name="adj" fmla="val 3827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1384" y="2423251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67004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prompt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766560" y="3236976"/>
            <a:ext cx="45720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“Aplique STRIDE ao fluxo navegador → FastAPI → classificador local → JSON. Liste ameaças, controles verificáveis e casos de teste. Não suponha que testes passaram sem execução.”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84848" y="5193792"/>
            <a:ext cx="4160520" cy="329184"/>
          </a:xfrm>
          <a:prstGeom prst="roundRect">
            <a:avLst>
              <a:gd name="adj" fmla="val 33333"/>
            </a:avLst>
          </a:prstGeom>
          <a:solidFill>
            <a:srgbClr val="0A1E2A"/>
          </a:solidFill>
          <a:ln w="8890">
            <a:solidFill>
              <a:srgbClr val="F7C8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519379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HUMANA OBRIGATÓRIA</a:t>
            </a:r>
            <a:endParaRPr lang="en-US" sz="930" dirty="0"/>
          </a:p>
        </p:txBody>
      </p:sp>
      <p:sp>
        <p:nvSpPr>
          <p:cNvPr id="25" name="Text 23">
            <a:hlinkClick r:id="rId1" tooltip=""/>
          </p:cNvPr>
          <p:cNvSpPr/>
          <p:nvPr/>
        </p:nvSpPr>
        <p:spPr>
          <a:xfrm>
            <a:off x="658368" y="6144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Publicar: github.com/new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| IMPLANTAÇÃO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ambiente local ao deploy monitorado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empacota o serviço; GitHub Actions verifica; Render pode publicar após checks aprovados.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C4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DE NOTA EXTRA  ·  IA + DEVSECOPS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853928" y="6510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414016"/>
            <a:ext cx="2679192" cy="1865376"/>
          </a:xfrm>
          <a:prstGeom prst="roundRect">
            <a:avLst>
              <a:gd name="adj" fmla="val 735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14107"/>
            <a:ext cx="52121" cy="45720"/>
          </a:xfrm>
          <a:prstGeom prst="rect">
            <a:avLst/>
          </a:prstGeom>
          <a:solidFill>
            <a:srgbClr val="7D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D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" y="324612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/ FastAPI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http://localhost:8000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82696" y="3310128"/>
            <a:ext cx="237744" cy="0"/>
          </a:xfrm>
          <a:prstGeom prst="line">
            <a:avLst/>
          </a:prstGeom>
          <a:noFill/>
          <a:ln w="25400">
            <a:solidFill>
              <a:srgbClr val="66EDC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29584" y="2414016"/>
            <a:ext cx="2679192" cy="1865376"/>
          </a:xfrm>
          <a:prstGeom prst="roundRect">
            <a:avLst>
              <a:gd name="adj" fmla="val 735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9584" y="2414107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94176" y="324612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+ PR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+ revisão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310128"/>
            <a:ext cx="237744" cy="0"/>
          </a:xfrm>
          <a:prstGeom prst="line">
            <a:avLst/>
          </a:prstGeom>
          <a:noFill/>
          <a:ln w="25400">
            <a:solidFill>
              <a:srgbClr val="66EDC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64808" y="2414016"/>
            <a:ext cx="2679192" cy="1865376"/>
          </a:xfrm>
          <a:prstGeom prst="roundRect">
            <a:avLst>
              <a:gd name="adj" fmla="val 735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2414107"/>
            <a:ext cx="52121" cy="45720"/>
          </a:xfrm>
          <a:prstGeom prst="rect">
            <a:avLst/>
          </a:prstGeom>
          <a:solidFill>
            <a:srgbClr val="F7C8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324612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+ Trivy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 sem root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53144" y="3310128"/>
            <a:ext cx="237744" cy="0"/>
          </a:xfrm>
          <a:prstGeom prst="line">
            <a:avLst/>
          </a:prstGeom>
          <a:noFill/>
          <a:ln w="25400">
            <a:solidFill>
              <a:srgbClr val="66EDC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00032" y="2414016"/>
            <a:ext cx="2679192" cy="1865376"/>
          </a:xfrm>
          <a:prstGeom prst="roundRect">
            <a:avLst>
              <a:gd name="adj" fmla="val 7353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00032" y="2414107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64624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HOSPEDAGEM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64624" y="324612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Render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ChecksPass + /health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5216" y="4617720"/>
            <a:ext cx="5568696" cy="1188720"/>
          </a:xfrm>
          <a:prstGeom prst="roundRect">
            <a:avLst>
              <a:gd name="adj" fmla="val 7692"/>
            </a:avLst>
          </a:prstGeom>
          <a:solidFill>
            <a:srgbClr val="102F3C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846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JÁ PREPARADO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" y="5257800"/>
            <a:ext cx="5102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Aplicação, Dockerfile, 7 testes locais e workflow no repositório.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355080" y="4617720"/>
            <a:ext cx="5276088" cy="1188720"/>
          </a:xfrm>
          <a:prstGeom prst="roundRect">
            <a:avLst>
              <a:gd name="adj" fmla="val 7692"/>
            </a:avLst>
          </a:prstGeom>
          <a:solidFill>
            <a:srgbClr val="102F3C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92824" y="48463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COMPROVAR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92824" y="5257800"/>
            <a:ext cx="4764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rodando no GitHub e URL real da implantação.</a:t>
            </a:r>
            <a:endParaRPr lang="en-US" sz="1280" dirty="0"/>
          </a:p>
        </p:txBody>
      </p:sp>
      <p:sp>
        <p:nvSpPr>
          <p:cNvPr id="35" name="Text 33">
            <a:hlinkClick r:id="rId1" tooltip=""/>
          </p:cNvPr>
          <p:cNvSpPr/>
          <p:nvPr/>
        </p:nvSpPr>
        <p:spPr>
          <a:xfrm>
            <a:off x="521208" y="6144768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  Render Blueprint   https://render.com/docs/blueprint-spec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| EVIDÊNCIAS &amp; FONTES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entregar e como comprovar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verificáveis para apresentação e avaliação da atividade.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9525">
            <a:solidFill>
              <a:srgbClr val="2C4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B9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DE NOTA EXTRA  ·  IA + DEVSECOPS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853928" y="6510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2BA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" y="2331720"/>
            <a:ext cx="5257800" cy="3557016"/>
          </a:xfrm>
          <a:prstGeom prst="roundRect">
            <a:avLst>
              <a:gd name="adj" fmla="val 3856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2331811"/>
            <a:ext cx="52121" cy="45720"/>
          </a:xfrm>
          <a:prstGeom prst="rect">
            <a:avLst/>
          </a:prstGeom>
          <a:solidFill>
            <a:srgbClr val="66ED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87752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Evidências do projeto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0815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6152" y="3063240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testes locais passando (pytest)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22960" y="35753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6152" y="3557016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e resultado de IA com texto fictício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6152" y="4050792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Acervo /prompts com seis arquivos Markdown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822960" y="45628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6152" y="4544568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Workflow: Bandit, pip-audit e Trivy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822960" y="5056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ED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6152" y="5038344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A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Dockerfile + render.yaml + plano de implantação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6025896" y="2331720"/>
            <a:ext cx="5623560" cy="3557016"/>
          </a:xfrm>
          <a:prstGeom prst="roundRect">
            <a:avLst>
              <a:gd name="adj" fmla="val 3856"/>
            </a:avLst>
          </a:prstGeom>
          <a:solidFill>
            <a:srgbClr val="0E2835"/>
          </a:solidFill>
          <a:ln w="8890">
            <a:solidFill>
              <a:srgbClr val="2C4A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25896" y="2331811"/>
            <a:ext cx="52121" cy="45720"/>
          </a:xfrm>
          <a:prstGeom prst="rect">
            <a:avLst/>
          </a:prstGeom>
          <a:solidFill>
            <a:srgbClr val="7DC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25968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7D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 oficiais e documentação</a:t>
            </a:r>
            <a:endParaRPr lang="en-US" sz="1900" dirty="0"/>
          </a:p>
        </p:txBody>
      </p:sp>
      <p:sp>
        <p:nvSpPr>
          <p:cNvPr id="26" name="Text 24">
            <a:hlinkClick r:id="rId1" tooltip=""/>
          </p:cNvPr>
          <p:cNvSpPr/>
          <p:nvPr/>
        </p:nvSpPr>
        <p:spPr>
          <a:xfrm>
            <a:off x="6300216" y="313639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LGPD / Planalto</a:t>
            </a:r>
            <a:endParaRPr lang="en-US" sz="1320" dirty="0"/>
          </a:p>
        </p:txBody>
      </p:sp>
      <p:sp>
        <p:nvSpPr>
          <p:cNvPr id="27" name="Text 25">
            <a:hlinkClick r:id="rId2" tooltip=""/>
          </p:cNvPr>
          <p:cNvSpPr/>
          <p:nvPr/>
        </p:nvSpPr>
        <p:spPr>
          <a:xfrm>
            <a:off x="6300216" y="354787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AI RMF</a:t>
            </a:r>
            <a:endParaRPr lang="en-US" sz="1320" dirty="0"/>
          </a:p>
        </p:txBody>
      </p:sp>
      <p:sp>
        <p:nvSpPr>
          <p:cNvPr id="28" name="Text 26">
            <a:hlinkClick r:id="rId3" tooltip=""/>
          </p:cNvPr>
          <p:cNvSpPr/>
          <p:nvPr/>
        </p:nvSpPr>
        <p:spPr>
          <a:xfrm>
            <a:off x="6300216" y="395935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Top 10 — Web</a:t>
            </a:r>
            <a:endParaRPr lang="en-US" sz="1320" dirty="0"/>
          </a:p>
        </p:txBody>
      </p:sp>
      <p:sp>
        <p:nvSpPr>
          <p:cNvPr id="29" name="Text 27">
            <a:hlinkClick r:id="rId4" tooltip=""/>
          </p:cNvPr>
          <p:cNvSpPr/>
          <p:nvPr/>
        </p:nvSpPr>
        <p:spPr>
          <a:xfrm>
            <a:off x="6300216" y="437083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Actions Security</a:t>
            </a:r>
            <a:endParaRPr lang="en-US" sz="1320" dirty="0"/>
          </a:p>
        </p:txBody>
      </p:sp>
      <p:sp>
        <p:nvSpPr>
          <p:cNvPr id="30" name="Text 28">
            <a:hlinkClick r:id="rId5" tooltip=""/>
          </p:cNvPr>
          <p:cNvSpPr/>
          <p:nvPr/>
        </p:nvSpPr>
        <p:spPr>
          <a:xfrm>
            <a:off x="6300216" y="478231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Trivy Action</a:t>
            </a:r>
            <a:endParaRPr lang="en-US" sz="1320" dirty="0"/>
          </a:p>
        </p:txBody>
      </p:sp>
      <p:sp>
        <p:nvSpPr>
          <p:cNvPr id="31" name="Text 29">
            <a:hlinkClick r:id="rId6" tooltip=""/>
          </p:cNvPr>
          <p:cNvSpPr/>
          <p:nvPr/>
        </p:nvSpPr>
        <p:spPr>
          <a:xfrm>
            <a:off x="6300216" y="519379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u="single" dirty="0">
                <a:solidFill>
                  <a:srgbClr val="7DC7FF"/>
                </a:solidFill>
                <a:uFill>
                  <a:solidFill>
                    <a:srgbClr val="7DC7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Render / Blueprints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685800" y="612648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7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Repositório próprio: adicionar URL do GitHub após publicar.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Projeto acadêmico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 AI | IA + DevSecOps</dc:title>
  <dc:subject>Implantação de aplicação de IA com DevSecOps</dc:subject>
  <dc:creator>Material acadêmico — PhishGuard AI</dc:creator>
  <cp:lastModifiedBy>Material acadêmico — PhishGuard AI</cp:lastModifiedBy>
  <cp:revision>1</cp:revision>
  <dcterms:created xsi:type="dcterms:W3CDTF">2026-10-26T23:11:30Z</dcterms:created>
  <dcterms:modified xsi:type="dcterms:W3CDTF">2026-10-26T23:11:30Z</dcterms:modified>
</cp:coreProperties>
</file>